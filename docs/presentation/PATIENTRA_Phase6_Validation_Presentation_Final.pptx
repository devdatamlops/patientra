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26761870454f7e" /><Relationship Type="http://schemas.openxmlformats.org/officeDocument/2006/relationships/extended-properties" Target="/docProps/app.xml" Id="Recc224c47e27420c" /><Relationship Type="http://schemas.openxmlformats.org/officeDocument/2006/relationships/officeDocument" Target="/ppt/presentation.xml" Id="R308e026b128243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ae0e413574dcc"/>
  </p:sldMasterIdLst>
  <p:notesMasterIdLst>
    <p:notesMasterId xmlns:r="http://schemas.openxmlformats.org/officeDocument/2006/relationships" r:id="Rec96461c6e474281"/>
  </p:notesMasterIdLst>
  <p:sldIdLst>
    <p:sldId xmlns:r="http://schemas.openxmlformats.org/officeDocument/2006/relationships" id="256" r:id="Rfcf8ad46e6424046"/>
    <p:sldId xmlns:r="http://schemas.openxmlformats.org/officeDocument/2006/relationships" id="257" r:id="R360ed1bc2c4a489c"/>
    <p:sldId xmlns:r="http://schemas.openxmlformats.org/officeDocument/2006/relationships" id="258" r:id="Rc28f5f75c5ae480c"/>
    <p:sldId xmlns:r="http://schemas.openxmlformats.org/officeDocument/2006/relationships" id="259" r:id="R330a605c5e4e4d80"/>
    <p:sldId xmlns:r="http://schemas.openxmlformats.org/officeDocument/2006/relationships" id="260" r:id="Rd37e13bb79ff4e63"/>
    <p:sldId xmlns:r="http://schemas.openxmlformats.org/officeDocument/2006/relationships" id="261" r:id="R3ea8746aa0ae47f2"/>
    <p:sldId xmlns:r="http://schemas.openxmlformats.org/officeDocument/2006/relationships" id="262" r:id="R693ab241d14e488e"/>
    <p:sldId xmlns:r="http://schemas.openxmlformats.org/officeDocument/2006/relationships" id="263" r:id="R21fd11bd972a4e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01f82791e644e2" /><Relationship Type="http://schemas.openxmlformats.org/officeDocument/2006/relationships/slideMaster" Target="/ppt/slideMasters/slideMaster1.xml" Id="Rc6dae0e413574dcc" /><Relationship Type="http://schemas.openxmlformats.org/officeDocument/2006/relationships/notesMaster" Target="/ppt/notesMasters/notesMaster1.xml" Id="Rec96461c6e474281" /><Relationship Type="http://schemas.openxmlformats.org/officeDocument/2006/relationships/presProps" Target="/ppt/presProps.xml" Id="R89ea7a6a19c04ea1" /><Relationship Type="http://schemas.openxmlformats.org/officeDocument/2006/relationships/tableStyles" Target="/ppt/tableStyles.xml" Id="R538fff98995145dd" /><Relationship Type="http://schemas.openxmlformats.org/officeDocument/2006/relationships/slide" Target="/ppt/slides/slide1.xml" Id="Rfcf8ad46e6424046" /><Relationship Type="http://schemas.openxmlformats.org/officeDocument/2006/relationships/slide" Target="/ppt/slides/slide2.xml" Id="R360ed1bc2c4a489c" /><Relationship Type="http://schemas.openxmlformats.org/officeDocument/2006/relationships/slide" Target="/ppt/slides/slide3.xml" Id="Rc28f5f75c5ae480c" /><Relationship Type="http://schemas.openxmlformats.org/officeDocument/2006/relationships/slide" Target="/ppt/slides/slide4.xml" Id="R330a605c5e4e4d80" /><Relationship Type="http://schemas.openxmlformats.org/officeDocument/2006/relationships/slide" Target="/ppt/slides/slide5.xml" Id="Rd37e13bb79ff4e63" /><Relationship Type="http://schemas.openxmlformats.org/officeDocument/2006/relationships/slide" Target="/ppt/slides/slide6.xml" Id="R3ea8746aa0ae47f2" /><Relationship Type="http://schemas.openxmlformats.org/officeDocument/2006/relationships/slide" Target="/ppt/slides/slide7.xml" Id="R693ab241d14e488e" /><Relationship Type="http://schemas.openxmlformats.org/officeDocument/2006/relationships/slide" Target="/ppt/slides/slide8.xml" Id="R21fd11bd972a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e1d8abc3ba44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ec83c81a6a42fb" /><Relationship Type="http://schemas.openxmlformats.org/officeDocument/2006/relationships/notesMaster" Target="/ppt/notesMasters/notesMaster1.xml" Id="R16c897c2594146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580b452144a19" /><Relationship Type="http://schemas.openxmlformats.org/officeDocument/2006/relationships/notesMaster" Target="/ppt/notesMasters/notesMaster1.xml" Id="R70c172f3315d40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8c6845cf704afa" /><Relationship Type="http://schemas.openxmlformats.org/officeDocument/2006/relationships/notesMaster" Target="/ppt/notesMasters/notesMaster1.xml" Id="Rd7941133035940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73be77b82249c0" /><Relationship Type="http://schemas.openxmlformats.org/officeDocument/2006/relationships/notesMaster" Target="/ppt/notesMasters/notesMaster1.xml" Id="R48185053445e47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51d2f7bc2b4a15" /><Relationship Type="http://schemas.openxmlformats.org/officeDocument/2006/relationships/notesMaster" Target="/ppt/notesMasters/notesMaster1.xml" Id="R0bc6299a14654f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03570ddb004515" /><Relationship Type="http://schemas.openxmlformats.org/officeDocument/2006/relationships/notesMaster" Target="/ppt/notesMasters/notesMaster1.xml" Id="R28509ef4361849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6832dcced8465c" /><Relationship Type="http://schemas.openxmlformats.org/officeDocument/2006/relationships/notesMaster" Target="/ppt/notesMasters/notesMaster1.xml" Id="R346ee619305b47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caa0cf2da846d7" /><Relationship Type="http://schemas.openxmlformats.org/officeDocument/2006/relationships/notesMaster" Target="/ppt/notesMasters/notesMaster1.xml" Id="Rf747cf3e733d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docs/evidence/README.md. All source data are synthetic and treated as sensitive.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docs/evidence/phase-1-bronze/README.md through docs/evidence/phase-5-readmission-analytics/README.md; outputs/phase6/release_validation.json.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docs/evidence/phase-1-bronze/README.md; docs/evidence/phase-2-silver/README.md. Raw rows: patients 2,304; admissions 3,056; labs 11,330. Silver rows: 2,304; 2,938; 10,231.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docs/evidence/phase-3-identity-resolution/README.md. The deck excludes all local IDs and review case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docs/evidence/phase-4-gold-features/README.md; docs/evidence/phase-5-readmission-analytics/README.md. The 19.42% denominator excludes 111 blank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docs/evidence/phase-5-readmission-analytics/README.md. Rates are unadjusted descriptive associations. O80 received primary suppression and K35 complementary suppression.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outputs/phase6/release_validation.json; docs/security.md; docs/analytics.md.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outputs/phase6/release_validation.json; final pytest run. PASS covers data and repository validation only, not clinical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2671f150e46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084ae68a734ea1" /><Relationship Type="http://schemas.openxmlformats.org/officeDocument/2006/relationships/slideLayout" Target="/ppt/slideLayouts/slideLayout1.xml" Id="R5e5f1e7bed2b49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f1e7bed2b49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c23032aeb43a7" /><Relationship Type="http://schemas.openxmlformats.org/officeDocument/2006/relationships/notesSlide" Target="/ppt/notesSlides/notesSlide1.xml" Id="R9732bb9da15e48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70a2de59a4010" /><Relationship Type="http://schemas.openxmlformats.org/officeDocument/2006/relationships/notesSlide" Target="/ppt/notesSlides/notesSlide2.xml" Id="R1cefc0dd1d184a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8799b1b064e6a" /><Relationship Type="http://schemas.openxmlformats.org/officeDocument/2006/relationships/chart" Target="/ppt/slides/charts/chart1.xml" Id="R8dc43bb889fe42e7" /><Relationship Type="http://schemas.openxmlformats.org/officeDocument/2006/relationships/notesSlide" Target="/ppt/notesSlides/notesSlide3.xml" Id="Rdebe240429494f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aa94da4594763" /><Relationship Type="http://schemas.openxmlformats.org/officeDocument/2006/relationships/notesSlide" Target="/ppt/notesSlides/notesSlide4.xml" Id="Recd64d90a4664a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bbaced2d54d47" /><Relationship Type="http://schemas.openxmlformats.org/officeDocument/2006/relationships/chart" Target="/ppt/slides/charts/chart2.xml" Id="R82d09bcd9a934874" /><Relationship Type="http://schemas.openxmlformats.org/officeDocument/2006/relationships/notesSlide" Target="/ppt/notesSlides/notesSlide5.xml" Id="R0ee0d38e919548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80ecae195441b" /><Relationship Type="http://schemas.openxmlformats.org/officeDocument/2006/relationships/chart" Target="/ppt/slides/charts/chart3.xml" Id="Rcc9ee75e8b864a9f" /><Relationship Type="http://schemas.openxmlformats.org/officeDocument/2006/relationships/notesSlide" Target="/ppt/notesSlides/notesSlide6.xml" Id="R51f49e7e486843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67ab563084587" /><Relationship Type="http://schemas.openxmlformats.org/officeDocument/2006/relationships/notesSlide" Target="/ppt/notesSlides/notesSlide7.xml" Id="R5517f7dd83d040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de4b31fc94116" /><Relationship Type="http://schemas.openxmlformats.org/officeDocument/2006/relationships/notesSlide" Target="/ppt/notesSlides/notesSlide8.xml" Id="Rd22307b02a7845f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FB3C5"/>
            </a:solidFill>
          </c:spPr>
          <c:cat>
            <c:strRef>
              <c:f>'Chart Data'!$A$2:$A$4</c:f>
              <c:strCache>
                <c:ptCount val="3"/>
                <c:pt idx="0">
                  <c:v>Patients</c:v>
                </c:pt>
                <c:pt idx="1">
                  <c:v>Admissions</c:v>
                </c:pt>
                <c:pt idx="2">
                  <c:v>Lab results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2304</c:v>
                </c:pt>
                <c:pt idx="1">
                  <c:v>3056</c:v>
                </c:pt>
                <c:pt idx="2">
                  <c:v>11330</c:v>
                </c:pt>
              </c:numCache>
            </c:numRef>
          </c:val>
        </c:ser>
        <c:ser>
          <c:idx val="1"/>
          <c:order val="1"/>
          <c:tx>
            <c:v>Accepted Silver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Data'!$C$2:$C$4</c:f>
              <c:strCache>
                <c:ptCount val="3"/>
                <c:pt idx="0">
                  <c:v>Patients</c:v>
                </c:pt>
                <c:pt idx="1">
                  <c:v>Admissions</c:v>
                </c:pt>
                <c:pt idx="2">
                  <c:v>Lab results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2304</c:v>
                </c:pt>
                <c:pt idx="1">
                  <c:v>2938</c:v>
                </c:pt>
                <c:pt idx="2">
                  <c:v>10231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932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9324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Admissions</c:v>
          </c:tx>
          <c:spPr>
            <a:solidFill xmlns:a="http://schemas.openxmlformats.org/drawingml/2006/main">
              <a:srgbClr val="0F766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07A3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FB3C5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Readmitted</c:v>
                </c:pt>
                <c:pt idx="1">
                  <c:v>Not readmitted</c:v>
                </c:pt>
                <c:pt idx="2">
                  <c:v>Excluded or censored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549</c:v>
                </c:pt>
                <c:pt idx="1">
                  <c:v>2278</c:v>
                </c:pt>
                <c:pt idx="2">
                  <c:v>111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932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Readmission rate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Data'!$A$2:$A$6</c:f>
              <c:strCache>
                <c:ptCount val="5"/>
                <c:pt idx="0">
                  <c:v>I50</c:v>
                </c:pt>
                <c:pt idx="1">
                  <c:v>J44</c:v>
                </c:pt>
                <c:pt idx="2">
                  <c:v>N18</c:v>
                </c:pt>
                <c:pt idx="3">
                  <c:v>E11</c:v>
                </c:pt>
                <c:pt idx="4">
                  <c:v>J18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0.3213</c:v>
                </c:pt>
                <c:pt idx="1">
                  <c:v>0.2534</c:v>
                </c:pt>
                <c:pt idx="2">
                  <c:v>0.232</c:v>
                </c:pt>
                <c:pt idx="3">
                  <c:v>0.1847</c:v>
                </c:pt>
                <c:pt idx="4">
                  <c:v>0.1496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932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1C1AE-347E-40F5-B9BA-54322A5C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82441-61AD-44F7-A11B-06847E8C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954B6-D1FB-41D3-AAFE-3A645929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CE9E7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CE9E7"/>
                </a:solidFill>
                <a:latin typeface="Arial"/>
                <a:ea typeface="Arial"/>
                <a:cs typeface="Arial"/>
              </a:rPr>
              <a:t>Validated data foundation for readmission analytics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FD976-58BF-4309-A9DE-6DBB67C5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FD4D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FD4D0"/>
                </a:solidFill>
                <a:latin typeface="Arial"/>
                <a:ea typeface="Arial"/>
                <a:cs typeface="Arial"/>
              </a:rPr>
              <a:t>Lakeside Health Network hackathon  |  Phases 1–6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E0B46-A1C5-47D3-B8E0-79ABC864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FB9B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FB9B5"/>
                </a:solidFill>
                <a:latin typeface="Arial"/>
                <a:ea typeface="Arial"/>
                <a:cs typeface="Arial"/>
              </a:rPr>
              <a:t>Aggregate evidence only. No patient-level records appear in this deck.</a:t>
            </a:r>
          </a:p>
        </p:txBody>
      </p:sp>
    </p:spTree>
    <p:extLst>
      <p:ext uri="{BB962C8B-B14F-4D97-AF65-F5344CB8AC3E}">
        <p14:creationId xmlns:p14="http://schemas.microsoft.com/office/powerpoint/2010/main" val="1535047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E80F6-4C12-4112-88E0-E9F4DE2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each phase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2C33F-B4F1-4B41-BC57-D95B9851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Every phase has a tracked, aggregate evidence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20539-3C0E-44BD-B0A2-CACC911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524250"/>
                <a:gridCol w="54864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output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proof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1  Bronze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Immutable landing plus lineage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Rows and SHA-256 hashes reconcile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2  Silver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Standardized clinical tables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Conversions, quarantine and deduplication reconcile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3  Identity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Patient master and review decisions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One-to-one decisions with human provenance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4  Gold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Admission features and 30-day label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2,938 unique admission rows with no future detail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5  Analytics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Suppressed aggregate rates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2,827 eligible rows and 8 protected cells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6  Validation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Release gate and presentation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13 release checks plus the full test suite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CC966-D5B1-4EEB-AB82-B6E8FD4C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9"/>
                </a:solidFill>
                <a:latin typeface="Arial"/>
                <a:ea typeface="Arial"/>
                <a:cs typeface="Arial"/>
              </a:rPr>
              <a:t>Evidence is designed for review without publishing patient-level source, matching, or Gold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6F2AF-283D-4E42-ACF4-7A46036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PATIENTRA  |  Phase 6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95681-B34A-44AE-88A2-9D03E03A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8014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1AF55-CB13-4505-8C4E-9E8F2EF7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Silver keeps valid records and isolates rejected rows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248F2-7FCA-407E-93AD-67FFE86D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Raw delivery compared with accepted Silver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E9A00-12B9-437C-9D61-B514A201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c43bb889fe42e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CE35C-1190-4300-9F5A-09651C91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FF1FA-926B-4F2F-AA4D-4BCB4784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patient rows quarantined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F3EBB-5EAB-4801-AF57-3D2D89FE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E07A3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07A3F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9A5BF-4CA2-468A-941B-5224F934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admission rows quarantined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18FD9-6A2C-4264-B906-077FE134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292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324A"/>
                </a:solidFill>
                <a:latin typeface="Arial"/>
                <a:ea typeface="Arial"/>
                <a:cs typeface="Arial"/>
              </a:rPr>
              <a:t>1,099 lab rows quarantined with reason codes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AC6EF-3C9C-4C0C-B206-78C740CE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PATIENTRA  |  Phase 6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FE3D6-4E41-4123-BFAE-5AE6D07A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0270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9B4BE-1EF7-46A2-A5C3-ABD56257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Identity decisions remain conservative and reviewable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0DF35-9111-49CD-8F08-973148F8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Cross-hospital matches require unique evidence or a recorded human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C4267-42E3-4648-8950-2964CB55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B0728-77E5-41B1-975D-9814D26C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A10F9-9533-4226-A19A-844E9359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B6B79"/>
                </a:solidFill>
                <a:latin typeface="Arial"/>
                <a:ea typeface="Arial"/>
                <a:cs typeface="Arial"/>
              </a:rPr>
              <a:t>automatic pairs accepted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A0701-A31D-4C56-849A-73D453C9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07A3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E07A3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ABFCF-97FF-4C25-A3B2-3256AECD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9324A"/>
                </a:solidFill>
                <a:latin typeface="Arial"/>
                <a:ea typeface="Arial"/>
                <a:cs typeface="Arial"/>
              </a:rPr>
              <a:t>human reviews completed</a:t>
            </a:r>
          </a:p>
          <a:p xmlns:a="http://schemas.openxmlformats.org/drawingml/2006/main">
            <a:pPr>
              <a:defRPr sz="1575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9324A"/>
                </a:solidFill>
                <a:latin typeface="Arial"/>
                <a:ea typeface="Arial"/>
                <a:cs typeface="Arial"/>
              </a:rPr>
              <a:t>4 accepted and 4 rejected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572000" y="1809750"/>
          <a:ext xmlns:a="http://schemas.openxmlformats.org/drawingml/2006/main" cx="6667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2190750"/>
              </a:tblGrid>
              <a:tr h="5873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Identity measure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result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Local registrations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2,304</a:t>
                      </a:r>
                    </a:p>
                  </a:txBody>
                  <a:tcPr marL="91440" marR="91440" marT="45720" marB="4572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Unique master patients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1,996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Linked source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616</a:t>
                      </a:r>
                    </a:p>
                  </a:txBody>
                  <a:tcPr marL="91440" marR="91440" marT="45720" marB="4572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Pending review cases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One-to-many automatic conflicts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A1393-FB6A-4FB3-89F0-4750C64F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388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9"/>
                </a:solidFill>
                <a:latin typeface="Arial"/>
                <a:ea typeface="Arial"/>
                <a:cs typeface="Arial"/>
              </a:rPr>
              <a:t>Rejected pairs remain separate master identities. Reviewer evidence stays in protected, Git-ignored 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76C1D-F543-40A8-84B2-2CC1929F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PATIENTRA  |  Phase 6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B6E72-51C2-42CE-B3A0-06E4E5FA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204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690B1-7DBE-4938-A261-B6BDBE17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Gold keeps exclusions out of the negative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EF351-CAEC-45BE-87B0-C726C732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One row per accepted Silver admission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972AC-DEBB-4136-8814-2A32733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d09bcd9a93487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D5830-CDF4-454C-9C2E-70F14912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E07A3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07A3F"/>
                </a:solidFill>
                <a:latin typeface="Arial"/>
                <a:ea typeface="Arial"/>
                <a:cs typeface="Arial"/>
              </a:rPr>
              <a:t>19.42%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E833B-B690-45F7-B280-76A4042D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9324A"/>
                </a:solidFill>
                <a:latin typeface="Arial"/>
                <a:ea typeface="Arial"/>
                <a:cs typeface="Arial"/>
              </a:rPr>
              <a:t>readmission rate among</a:t>
            </a:r>
          </a:p>
          <a:p xmlns:a="http://schemas.openxmlformats.org/drawingml/2006/main">
            <a:pPr algn="ctr">
              <a:defRPr sz="1575">
                <a:solidFill>
                  <a:srgbClr val="19324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9324A"/>
                </a:solidFill>
                <a:latin typeface="Arial"/>
                <a:ea typeface="Arial"/>
                <a:cs typeface="Arial"/>
              </a:rPr>
              <a:t>2,827 eligible admissions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1109A-F86E-4487-B19E-9F67DA13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291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111 blank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F530A-B9F2-4E21-BDF1-A1DFD17D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58 deaths</a:t>
            </a:r>
          </a:p>
          <a:p xmlns:a="http://schemas.openxmlformats.org/drawingml/2006/main">
            <a:pPr algn="ctr"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30 without discharge</a:t>
            </a:r>
          </a:p>
          <a:p xmlns:a="http://schemas.openxmlformats.org/drawingml/2006/main">
            <a:pPr algn="ctr"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23 incomplete follow-up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9F3F7-40A2-4330-A558-38FB54F9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PATIENTRA  |  Phase 6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C502B-C8A5-4624-8A2D-054FE842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49506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C970D-7F32-4114-8D39-7A89204E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Published diagnosis rates are unadjusted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03BC4-0716-4ACB-A4B4-CD04BB4F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Admission-level readmission rates with protected small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F3357-4302-43FE-9F6E-46612DD8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1666875"/>
          <a:ext xmlns:a="http://schemas.openxmlformats.org/drawingml/2006/main" cx="75247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9ee75e8b864a9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52847-E3CD-4C67-A7C0-6740C594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Hospital rates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C252D-0255-473B-ACEE-56915A97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20.22%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BA473-9603-4EF8-97A2-E6282FCF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9"/>
                </a:solidFill>
                <a:latin typeface="Arial"/>
                <a:ea typeface="Arial"/>
                <a:cs typeface="Arial"/>
              </a:rPr>
              <a:t>Lakeside General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88888-A151-4625-92C0-FC1CCF02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07A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07A3F"/>
                </a:solidFill>
                <a:latin typeface="Arial"/>
                <a:ea typeface="Arial"/>
                <a:cs typeface="Arial"/>
              </a:rPr>
              <a:t>18.00%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E9278-07BD-47EF-BF4E-C872F396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9"/>
                </a:solidFill>
                <a:latin typeface="Arial"/>
                <a:ea typeface="Arial"/>
                <a:cs typeface="Arial"/>
              </a:rPr>
              <a:t>Riverside Specialist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28BD5-1D25-4E17-8A43-C7787926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578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9"/>
                </a:solidFill>
                <a:latin typeface="Arial"/>
                <a:ea typeface="Arial"/>
                <a:cs typeface="Arial"/>
              </a:rPr>
              <a:t>O80 and K35 are not shown because suppression protects a small outcome cell.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AF16E-05A3-4CD4-8E33-D71208AB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PATIENTRA  |  Phase 6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5B780-E620-4C85-BD60-D47E14C3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81995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339F-E8C1-4CF7-9EAB-A34B9AAB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Release controls protect lineage and disclosure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3DB1D-AE69-4E44-844D-6834C23D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The public narrative uses aggregates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D927C-82E9-402E-A451-AC0C2C5F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191250"/>
                <a:gridCol w="1581150"/>
              </a:tblGrid>
              <a:tr h="5442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evidence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F766E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Raw and Bronze immutability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Input hashes remain unchanged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63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Label reconciliation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549 positive, 2,278 negative, 111 excluded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63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Small-cell protection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Minimum cell size 11 plus complementary suppression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63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Identifier scan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No actual admission or master ID in analytics outputs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63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Output reproducibility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Gold, analytics JSON and CSV hashes are stable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63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Repository protection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9324A"/>
                          </a:solidFill>
                          <a:latin typeface="Arial"/>
                          <a:ea typeface="Arial"/>
                          <a:cs typeface="Arial"/>
                        </a:rPr>
                        <a:t>Gold and operational outputs remain Git-ignored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63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D4FB8-6D42-44F9-B96C-2164C9AD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9"/>
                </a:solidFill>
                <a:latin typeface="Arial"/>
                <a:ea typeface="Arial"/>
                <a:cs typeface="Arial"/>
              </a:rPr>
              <a:t>Suppression lowers disclosure risk. It does not establish formal de-identification or authorize clinical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1D4F6-8E63-4C64-980C-4050BAC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PATIENTRA  |  Phase 6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50BD1-E849-4781-8968-2194167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B79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98463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1654C-5671-4976-9EC1-79552084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6 validation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24704-148A-49B2-9AAA-BB1C8156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B827C-07A2-4865-A641-4242F463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5ED0B5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5ED0B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EBBFB-E32D-4131-9B6D-E6793678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8B61D-5954-4A8A-BA49-3A3C5CA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FD4D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FD4D0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BB073-F5B5-49AB-8797-41741669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91992-B0DA-487A-872D-2D5BD96E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148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FD4D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FD4D0"/>
                </a:solidFill>
                <a:latin typeface="Arial"/>
                <a:ea typeface="Arial"/>
                <a:cs typeface="Arial"/>
              </a:rPr>
              <a:t>release checks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DEFF4-1E46-4EA4-8AF8-1CE8157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4E85F-3466-4307-B40C-EECBDE1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FD4D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FD4D0"/>
                </a:solidFill>
                <a:latin typeface="Arial"/>
                <a:ea typeface="Arial"/>
                <a:cs typeface="Arial"/>
              </a:rPr>
              <a:t>identifier hits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D570D-8E77-4A5A-A1E4-B91D8A97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5200F-0C95-408A-9BB1-CB7EBCB5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148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FD4D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FD4D0"/>
                </a:solidFill>
                <a:latin typeface="Arial"/>
                <a:ea typeface="Arial"/>
                <a:cs typeface="Arial"/>
              </a:rPr>
              <a:t>suppressed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3F98C-C345-4CE2-A242-CFB02BC1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CE9E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CE9E7"/>
                </a:solidFill>
                <a:latin typeface="Arial"/>
                <a:ea typeface="Arial"/>
                <a:cs typeface="Arial"/>
              </a:rPr>
              <a:t>Validated for hackathon submission and review. Separate governance is required before modeling or clinical 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9AED4-5CDD-4AA2-9548-E0093B9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B9B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9FB9B5"/>
                </a:solidFill>
                <a:latin typeface="Arial"/>
                <a:ea typeface="Arial"/>
                <a:cs typeface="Arial"/>
              </a:rPr>
              <a:t>PATIENTRA  |  Phase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DC81B-B42B-4958-A651-E12FF9C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FB9B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9FB9B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41291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2026-09-30T02:26:04.3860000Z</dcterms:created>
  <dcterms:modified xsi:type="dcterms:W3CDTF">2026-09-30T02:26:04.3860000Z</dcterms:modified>
</coreProperties>
</file>